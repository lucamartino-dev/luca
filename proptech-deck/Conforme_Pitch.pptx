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 / dossier</c:v>
                </c:pt>
              </c:strCache>
            </c:strRef>
          </c:tx>
          <c:spPr>
            <a:solidFill>
              <a:srgbClr val="E8A33D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6FA8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35</c:v>
                </c:pt>
                <c:pt idx="2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Dati &amp; AVM</c:v>
                </c:pt>
              </c:strCache>
            </c:strRef>
          </c:tx>
          <c:spPr>
            <a:solidFill>
              <a:srgbClr val="C056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15</c:v>
                </c:pt>
                <c:pt idx="2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Take-rate</c:v>
                </c:pt>
              </c:strCache>
            </c:strRef>
          </c:tx>
          <c:spPr>
            <a:solidFill>
              <a:srgbClr val="7FC8A9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E1E38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AF1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AF1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502920" cy="137160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120640"/>
            <a:ext cx="502920" cy="82296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3840480"/>
            <a:ext cx="502920" cy="21031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PROPTECH · INTELLIGENZA ARTIFICIALE · ITALIA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della compravendita immobiliare italiana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altro portale di annunci. </a:t>
            </a:r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Digitalizziamo la parte che fa saltare le compravendite: la conformità.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per investitore  ·  Luca Martino — Skylabs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L'annuncio è risolto. La transazione è rotta.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e Idealista dominano la vetrina. Ma dietro l'annuncio, la compravendita in Italia è ancora lenta, opaca e analogica — e il collo di bottiglia è sempre lo stesso.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43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conformità blocca tutto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28437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difformità catastale/urbanistica è la prima causa di rogiti che saltano o si allungano dal notaio.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50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vivono in silos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405079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Catasto, archivi edilizi del Comune, visure ipotecarie, APE, vincoli: nessuno di questi sistemi si parla.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5111496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67528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Settimane di lavoro manuale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52578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immobile servono geometra, notaio e avvocato per ricostruire un dossier che oggi è tutto a mano.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il layer di conformità e titolo possiede una cosa che in Italia non è mai esistita.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~720.000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all'anno in Italia (OMI 2024)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Milioni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immobili con difformità catastali o urbanistiche da regolarizzare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2104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transato residenziale all'anno (ordine di grandezza)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L'equivalente di un MLS / registro dei titoli — che il mercato immobiliare italiano, a differenza di quello USA, non ha mai avuto.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compravendite: OMI — Agenzia delle Entrate, Rapporto Immobiliare 2025. Transato: stima / ordine di grandezza.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— IL PUNTO D'INGRESSO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AI che costruisce e verifica la due diligence in ore, non settimane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o un dato catastale. Nient'altro.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66744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Raccolta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L'agente recupera visure, planimetrie, atti, archivi edilizi e vincoli.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18504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4536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74536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AI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74536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automatico catastale ↔ urbanistico ↔ stato di fatto; stima difformità e sanabilità.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560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9482328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82328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82328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di due diligence pronto per agenzia, notaio, banca o fondo.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iniziale = B2B. </a:t>
            </a:r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Agenzie di rete, notai, banche (perizie mutui), fondi e SGR, aste. Pagano già oggi per questo lavoro — fatto male e lento. Vendiamo tempo e riduzione del rischio, non “AI”.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DIFENDIBILE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pratica alimenta un dataset che nessuno può copiare dalla vetrina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74920" y="3063240"/>
            <a:ext cx="2011680" cy="20116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74920" y="30632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23360" y="187452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60520" y="1874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pratiche di due diligence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75320" y="28803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2880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dati verificati di conformità e valore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42519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42519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e valutazioni più accurate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88036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880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clienti, più fiducia, più pratiche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rete sui dati: costruiamo, pratica dopo pratica, l'MLS e il registro dei titoli che l'Italia non ha mai avuto.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VISIONE A 360°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certificato di conformità alla piattaforma dell'intera transazione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47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468880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AI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8952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d'ingresso: certificato di conformità automatizzato.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36792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26864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dati-driven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26864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molto più accurato dei dati OMI, basato su transazioni reali.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38744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04704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94776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Rails della transazione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494776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Notaio, banca, mutuo e rogito orchestrati in digitale.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Sblocco immobili fermi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58952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Eredità e comproprietà frammentate: mappatura e accordo assistiti.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70832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36792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26864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Retrofit energetico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626864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di classe, costi e incentivi per la direttiva Case Green.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38744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94776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4776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204704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94776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finanziario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494776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ristrutturazione agganciati al dossier.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mercato target supera il miliardo — di molto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sola due diligence tecnico-legale vale ~€1 mld/anno. Con i servizi alla transazione e l'ondata Case Green, il target è multi-miliardo.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7863840" cy="1188720"/>
          </a:xfrm>
          <a:prstGeom prst="roundRect">
            <a:avLst>
              <a:gd name="adj" fmla="val 6923"/>
            </a:avLst>
          </a:prstGeom>
          <a:solidFill>
            <a:srgbClr val="0E1E3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05740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 transato residenziale/anno + €280 mld di giro d'affari Case Green potenziale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57400" y="26243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immobiliare &amp; riqualificazione in Italia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6035040" cy="1188720"/>
          </a:xfrm>
          <a:prstGeom prst="roundRect">
            <a:avLst>
              <a:gd name="adj" fmla="val 6923"/>
            </a:avLst>
          </a:prstGeom>
          <a:solidFill>
            <a:srgbClr val="C0563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4747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57400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Multi-miliardo € / anno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057400" y="39959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tecnico-legali, valutazione e intelligence energetica digitalizzabili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4206240" cy="1188720"/>
          </a:xfrm>
          <a:prstGeom prst="roundRect">
            <a:avLst>
              <a:gd name="adj" fmla="val 6923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057400" y="49103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Centinaia di mln (beachhead 0–3 anni)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057400" y="53675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 B2B su ~720k transazioni/anno: reti, notai, banche, fondi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549640" y="1965960"/>
            <a:ext cx="3108960" cy="3931920"/>
          </a:xfrm>
          <a:prstGeom prst="roundRect">
            <a:avLst>
              <a:gd name="adj" fmla="val 2647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1488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che reggono la tesi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288036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719.578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(2024)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€2,8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intermediazione; €36 mld servizi immobiliari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Case Green entro il 2030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~500.000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abitazioni/anno da riqualificare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0533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OMI–Agenzia delle Entrate (2024); Il Sole 24 Ore; ACCA/BibLus, rinnovabili.it (EPBD). SAM/SOM: stime, da validare in diligence.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RICAVI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flussi che si accendono in sequenza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860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Pay-per-dossier / SaaS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71600" y="2578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agenzie e notai: canone + pratica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273552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7160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Banche, SGR e fondi: contratti a volume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426110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187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AVM in licenza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716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Valutazioni e dataset di conformità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6577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248656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5248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Take-rate transazioni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371600" y="55412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(fase 2)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2648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ricavi nel tempo (illustrativo, % del fatturato)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035040" y="2286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ADESSO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venti a favore convergono nel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87168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331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Direttiva UE “Case Green”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06440" y="23134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EPBD (recepimento entro maggio 2026) impone l'adeguamento di ~500.000 abitazioni/anno: ~€85 mld di investimenti entro il 2030. Domanda forzata e finanziabile.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858768"/>
            <a:ext cx="566928" cy="566928"/>
          </a:xfrm>
          <a:prstGeom prst="ellipse">
            <a:avLst/>
          </a:prstGeom>
          <a:solidFill>
            <a:srgbClr val="0E1E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703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 AI finalmente maturi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36850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compiti document-heavy e rule-heavy — leggere visure, incrociare planimetrie, verificare regole — sono ora automatizzabili con affidabilità.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5074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Eredità del Superbonus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06440" y="50566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ecosistema di dati, cantieri e pratiche edilizie mai visto prima, oggi disponibile per essere strutturato.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scommettiamo sull'AI da costruire. Verticalizziamo una piattaforma che già esiste.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15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agentica di Skylabs: l'infrastruttura AI è già in produzione, non da inventare.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4962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Skylabs / SAE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251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consolidata di AI enterprise e integrazione su processi complessi.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3776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8406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Time-to-market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5486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Partiamo da una vertical application su un mercato rotto — non da un foglio bianco.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0" y="2468880"/>
            <a:ext cx="4800600" cy="3566160"/>
          </a:xfrm>
          <a:prstGeom prst="roundRect">
            <a:avLst>
              <a:gd name="adj" fmla="val 2564"/>
            </a:avLst>
          </a:prstGeom>
          <a:solidFill>
            <a:srgbClr val="0A173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0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3200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78040" y="35844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app — real estate Italia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4160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17294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41605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 — piattaforma agentica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50749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0E214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50749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Skylabs / SAE — AI enterprise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wedge alla piattaforma, in tre fasi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18 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wedge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di due diligence in produzione. Primi clienti B2B: reti, notai, banche. Costruzione del dataset proprietario.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E1E38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– 36 mesi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45152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transazione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proprietario, rails della transazione digitale, sblocco degli immobili fermi. Il data-moat diventa prodotto.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38744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13064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13064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mesi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13064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360°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13064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energetica Case Green e marketplace finanziario. Scala nazionale, poi replicabilità europea.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457200" cy="1188720"/>
          </a:xfrm>
          <a:prstGeom prst="roundRect">
            <a:avLst>
              <a:gd name="adj" fmla="val 12000"/>
            </a:avLst>
          </a:prstGeom>
          <a:solidFill>
            <a:srgbClr val="17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1097280"/>
            <a:ext cx="457200" cy="73152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Costruiamo il layer di fiducia della compravendita immobiliare italiana.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ha digitalizzato l'annuncio. </a:t>
            </a:r>
            <a:pPr indent="0" marL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digitalizziamo la parte che fa saltare le compravendite — la conformità — e da lì diventiamo il layer di dati e transazione che il mercato immobiliare italiano non ha mai avuto.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 tecnico + verticale legale e go-to-market B2B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mesi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il wedge in produzione e costruire il data-moat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7532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il primo player del layer di conformità in Italia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Martino  ·  Skylabs  ·  luca.martino@skylabs.it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2026-07-29T15:21:51Z</dcterms:created>
  <dcterms:modified xsi:type="dcterms:W3CDTF">2026-07-29T15:21:51Z</dcterms:modified>
</cp:coreProperties>
</file>