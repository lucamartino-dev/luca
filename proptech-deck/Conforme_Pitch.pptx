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SaaS / dossier</c:v>
                </c:pt>
              </c:strCache>
            </c:strRef>
          </c:tx>
          <c:spPr>
            <a:solidFill>
              <a:srgbClr val="E8A33D">
                <a:alpha val="100000"/>
              </a:srgbClr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E1E38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Anno 1</c:v>
                  </c:pt>
                  <c:pt idx="1">
                    <c:v>Anno 2</c:v>
                  </c:pt>
                  <c:pt idx="2">
                    <c:v>Anno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</c:v>
                </c:pt>
                <c:pt idx="1">
                  <c:v>45</c:v>
                </c:pt>
                <c:pt idx="2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Enterprise</c:v>
                </c:pt>
              </c:strCache>
            </c:strRef>
          </c:tx>
          <c:spPr>
            <a:solidFill>
              <a:srgbClr val="6FA8DC">
                <a:alpha val="100000"/>
              </a:srgbClr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E1E38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Anno 1</c:v>
                  </c:pt>
                  <c:pt idx="1">
                    <c:v>Anno 2</c:v>
                  </c:pt>
                  <c:pt idx="2">
                    <c:v>Anno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30</c:v>
                </c:pt>
                <c:pt idx="1">
                  <c:v>35</c:v>
                </c:pt>
                <c:pt idx="2">
                  <c:v>32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Dati &amp; AVM</c:v>
                </c:pt>
              </c:strCache>
            </c:strRef>
          </c:tx>
          <c:spPr>
            <a:solidFill>
              <a:srgbClr val="C0563C">
                <a:alpha val="100000"/>
              </a:srgbClr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E1E38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Anno 1</c:v>
                  </c:pt>
                  <c:pt idx="1">
                    <c:v>Anno 2</c:v>
                  </c:pt>
                  <c:pt idx="2">
                    <c:v>Anno 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15</c:v>
                </c:pt>
                <c:pt idx="2">
                  <c:v>22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Take-rate</c:v>
                </c:pt>
              </c:strCache>
            </c:strRef>
          </c:tx>
          <c:spPr>
            <a:solidFill>
              <a:srgbClr val="7FC8A9">
                <a:alpha val="100000"/>
              </a:srgbClr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E1E38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Anno 1</c:v>
                  </c:pt>
                  <c:pt idx="1">
                    <c:v>Anno 2</c:v>
                  </c:pt>
                  <c:pt idx="2">
                    <c:v>Anno 3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</c:v>
                </c:pt>
                <c:pt idx="1">
                  <c:v>5</c:v>
                </c:pt>
                <c:pt idx="2">
                  <c:v>16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0E1E38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AF1F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EAF1F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4480560"/>
            <a:ext cx="502920" cy="1371600"/>
          </a:xfrm>
          <a:prstGeom prst="roundRect">
            <a:avLst>
              <a:gd name="adj" fmla="val 10909"/>
            </a:avLst>
          </a:prstGeom>
          <a:solidFill>
            <a:srgbClr val="17294A"/>
          </a:solidFill>
          <a:ln w="12700">
            <a:solidFill>
              <a:srgbClr val="2237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61320" y="5120640"/>
            <a:ext cx="502920" cy="822960"/>
          </a:xfrm>
          <a:prstGeom prst="roundRect">
            <a:avLst>
              <a:gd name="adj" fmla="val 10909"/>
            </a:avLst>
          </a:prstGeom>
          <a:solidFill>
            <a:srgbClr val="17294A"/>
          </a:solidFill>
          <a:ln w="12700">
            <a:solidFill>
              <a:srgbClr val="2237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9960" y="3840480"/>
            <a:ext cx="502920" cy="2103120"/>
          </a:xfrm>
          <a:prstGeom prst="roundRect">
            <a:avLst>
              <a:gd name="adj" fmla="val 1090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PROPTECH · INTELLIGENZA ARTIFICIALE · ITALIA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Conforme</a:t>
            </a:r>
            <a:endParaRPr lang="en-US" sz="7600" dirty="0"/>
          </a:p>
        </p:txBody>
      </p:sp>
      <p:sp>
        <p:nvSpPr>
          <p:cNvPr id="7" name="Text 5"/>
          <p:cNvSpPr/>
          <p:nvPr/>
        </p:nvSpPr>
        <p:spPr>
          <a:xfrm>
            <a:off x="685800" y="29718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L'infrastruttura AI della compravendita immobiliare italiana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37947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un altro portale di annunci. </a:t>
            </a:r>
            <a:pPr indent="0" marL="0">
              <a:buNone/>
            </a:pPr>
            <a:r>
              <a:rPr lang="en-US" sz="15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Digitalizziamo la parte che fa saltare le compravendite: la conformità.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per investitore  ·  Luca Martino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L'annuncio è risolto. La transazione è rotta.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Immobiliare.it e Idealista dominano la vetrina. Ma dietro l'annuncio, la compravendita in Italia è ancora lenta, opaca e analogica, e il collo di bottiglia è sempre lo stesso.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2697480"/>
            <a:ext cx="11155680" cy="1051560"/>
          </a:xfrm>
          <a:prstGeom prst="roundRect">
            <a:avLst>
              <a:gd name="adj" fmla="val 6957"/>
            </a:avLst>
          </a:prstGeom>
          <a:solidFill>
            <a:srgbClr val="F4F7FC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953512"/>
            <a:ext cx="548640" cy="548640"/>
          </a:xfrm>
          <a:prstGeom prst="ellipse">
            <a:avLst/>
          </a:prstGeom>
          <a:solidFill>
            <a:srgbClr val="C0563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953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84378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conformità blocca tutto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852160" y="2843784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difformità catastale/urbanistica è la prima causa di rogiti che saltano o si allungano dal notaio.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3904488"/>
            <a:ext cx="11155680" cy="1051560"/>
          </a:xfrm>
          <a:prstGeom prst="roundRect">
            <a:avLst>
              <a:gd name="adj" fmla="val 6957"/>
            </a:avLst>
          </a:prstGeom>
          <a:solidFill>
            <a:srgbClr val="F4F7FC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4160520"/>
            <a:ext cx="548640" cy="548640"/>
          </a:xfrm>
          <a:prstGeom prst="ellipse">
            <a:avLst/>
          </a:prstGeom>
          <a:solidFill>
            <a:srgbClr val="C0563C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40507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dati vivono in silos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852160" y="4050792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Catasto, archivi edilizi del Comune, visure ipotecarie, APE, vincoli: nessuno di questi sistemi si parla.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5111496"/>
            <a:ext cx="11155680" cy="1051560"/>
          </a:xfrm>
          <a:prstGeom prst="roundRect">
            <a:avLst>
              <a:gd name="adj" fmla="val 6957"/>
            </a:avLst>
          </a:prstGeom>
          <a:solidFill>
            <a:srgbClr val="F4F7FC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5367528"/>
            <a:ext cx="548640" cy="548640"/>
          </a:xfrm>
          <a:prstGeom prst="ellipse">
            <a:avLst/>
          </a:prstGeom>
          <a:solidFill>
            <a:srgbClr val="C0563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367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5257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Settimane di lavoro manuale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852160" y="5257800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ogni immobile servono geometra, notaio e avvocato per ricostruire un dossier che oggi è tutto a mano.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 possiede il layer di conformità e titolo possiede una cosa che in Italia non è mai esistita.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2331720"/>
            <a:ext cx="3611880" cy="2423160"/>
          </a:xfrm>
          <a:prstGeom prst="roundRect">
            <a:avLst>
              <a:gd name="adj" fmla="val 3774"/>
            </a:avLst>
          </a:prstGeom>
          <a:solidFill>
            <a:srgbClr val="17294A"/>
          </a:solidFill>
          <a:ln w="12700">
            <a:solidFill>
              <a:srgbClr val="2740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6974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~720.000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compravendite residenziali all'anno in Italia (OMI 2024)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2331720"/>
            <a:ext cx="3611880" cy="2423160"/>
          </a:xfrm>
          <a:prstGeom prst="roundRect">
            <a:avLst>
              <a:gd name="adj" fmla="val 3774"/>
            </a:avLst>
          </a:prstGeom>
          <a:solidFill>
            <a:srgbClr val="17294A"/>
          </a:solidFill>
          <a:ln w="12700">
            <a:solidFill>
              <a:srgbClr val="2740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26974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Milioni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26280" y="365760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immobili con difformità catastali o urbanistiche da regolarizzare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92440" y="2331720"/>
            <a:ext cx="3611880" cy="2423160"/>
          </a:xfrm>
          <a:prstGeom prst="roundRect">
            <a:avLst>
              <a:gd name="adj" fmla="val 3774"/>
            </a:avLst>
          </a:prstGeom>
          <a:solidFill>
            <a:srgbClr val="17294A"/>
          </a:solidFill>
          <a:ln w="12700">
            <a:solidFill>
              <a:srgbClr val="2740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26974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~€120 mld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321040" y="365760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transato residenziale all'anno (ordine di grandezza)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50749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L'equivalente di un MLS / registro dei titoli, che il mercato immobiliare italiano, a differenza di quello USA, non ha mai avuto.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" y="5989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compravendite: OMI, Agenzia delle Entrate, Rapporto Immobiliare 2025. Transato: stima / ordine di grandezza.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9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SOLUZIONE · IL PUNTO D'INGRESSO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agente AI che costruisce e verifica la due diligence in ore, non settimane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2286000"/>
            <a:ext cx="2651760" cy="2743200"/>
          </a:xfrm>
          <a:prstGeom prst="roundRect">
            <a:avLst>
              <a:gd name="adj" fmla="val 3103"/>
            </a:avLst>
          </a:prstGeom>
          <a:solidFill>
            <a:srgbClr val="F4F7FC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2560320"/>
            <a:ext cx="566928" cy="566928"/>
          </a:xfrm>
          <a:prstGeom prst="ellipse">
            <a:avLst/>
          </a:prstGeom>
          <a:solidFill>
            <a:srgbClr val="C0563C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2560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58952" y="3246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58952" y="37033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indirizzo o un dato catastale. Nient'altro.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172968" y="3547872"/>
            <a:ext cx="219456" cy="219456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0" name="Shape 8"/>
          <p:cNvSpPr/>
          <p:nvPr/>
        </p:nvSpPr>
        <p:spPr>
          <a:xfrm>
            <a:off x="3410712" y="2286000"/>
            <a:ext cx="2651760" cy="2743200"/>
          </a:xfrm>
          <a:prstGeom prst="roundRect">
            <a:avLst>
              <a:gd name="adj" fmla="val 3103"/>
            </a:avLst>
          </a:prstGeom>
          <a:solidFill>
            <a:srgbClr val="F4F7FC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66744" y="2560320"/>
            <a:ext cx="566928" cy="566928"/>
          </a:xfrm>
          <a:prstGeom prst="ellipse">
            <a:avLst/>
          </a:prstGeom>
          <a:solidFill>
            <a:srgbClr val="C0563C"/>
          </a:solidFill>
          <a:ln/>
        </p:spPr>
      </p:sp>
      <p:sp>
        <p:nvSpPr>
          <p:cNvPr id="12" name="Text 10"/>
          <p:cNvSpPr/>
          <p:nvPr/>
        </p:nvSpPr>
        <p:spPr>
          <a:xfrm>
            <a:off x="3666744" y="2560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66744" y="3246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Raccolta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666744" y="37033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L'agente recupera visure, planimetrie, atti, archivi edilizi e vincoli.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80760" y="3547872"/>
            <a:ext cx="219456" cy="219456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6" name="Shape 14"/>
          <p:cNvSpPr/>
          <p:nvPr/>
        </p:nvSpPr>
        <p:spPr>
          <a:xfrm>
            <a:off x="6318504" y="2286000"/>
            <a:ext cx="2651760" cy="2743200"/>
          </a:xfrm>
          <a:prstGeom prst="roundRect">
            <a:avLst>
              <a:gd name="adj" fmla="val 3103"/>
            </a:avLst>
          </a:prstGeom>
          <a:solidFill>
            <a:srgbClr val="F4F7FC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74536" y="2560320"/>
            <a:ext cx="566928" cy="566928"/>
          </a:xfrm>
          <a:prstGeom prst="ellipse">
            <a:avLst/>
          </a:prstGeom>
          <a:solidFill>
            <a:srgbClr val="C0563C"/>
          </a:solidFill>
          <a:ln/>
        </p:spPr>
      </p:sp>
      <p:sp>
        <p:nvSpPr>
          <p:cNvPr id="18" name="Text 16"/>
          <p:cNvSpPr/>
          <p:nvPr/>
        </p:nvSpPr>
        <p:spPr>
          <a:xfrm>
            <a:off x="6574536" y="2560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74536" y="3246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 AI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574536" y="37033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 automatico catastale ↔ urbanistico ↔ stato di fatto; stima difformità e sanabilità.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988552" y="3547872"/>
            <a:ext cx="219456" cy="219456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22" name="Shape 20"/>
          <p:cNvSpPr/>
          <p:nvPr/>
        </p:nvSpPr>
        <p:spPr>
          <a:xfrm>
            <a:off x="9226296" y="2286000"/>
            <a:ext cx="2651760" cy="2743200"/>
          </a:xfrm>
          <a:prstGeom prst="roundRect">
            <a:avLst>
              <a:gd name="adj" fmla="val 3103"/>
            </a:avLst>
          </a:prstGeom>
          <a:solidFill>
            <a:srgbClr val="0E1E38"/>
          </a:solidFill>
          <a:ln w="12700">
            <a:solidFill>
              <a:srgbClr val="0E1E3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82328" y="256032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4" name="Text 22"/>
          <p:cNvSpPr/>
          <p:nvPr/>
        </p:nvSpPr>
        <p:spPr>
          <a:xfrm>
            <a:off x="9482328" y="2560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482328" y="3246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Certificato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9482328" y="37033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dossier di due diligence pronto per agenzia, notaio, banca o fondo.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544068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iniziale = B2B. </a:t>
            </a:r>
            <a:pPr indent="0" marL="0">
              <a:buNone/>
            </a:pPr>
            <a:r>
              <a:rPr lang="en-US" sz="140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Agenzie di rete, notai, banche (perizie mutui), fondi e SGR, aste. Pagano già oggi per questo lavoro, fatto male e lento. Vendiamo tempo e riduzione del rischio, non “AI”.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VANTAGGIO DIFENDIBILE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Ogni pratica alimenta un dataset che nessuno può copiare dalla vetrina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276088" y="2971800"/>
            <a:ext cx="1645920" cy="1645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5276088" y="297180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DATI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E1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PROPRIETARI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331720" y="2331720"/>
            <a:ext cx="2743200" cy="960120"/>
          </a:xfrm>
          <a:prstGeom prst="roundRect">
            <a:avLst>
              <a:gd name="adj" fmla="val 8571"/>
            </a:avLst>
          </a:prstGeom>
          <a:solidFill>
            <a:srgbClr val="17294A"/>
          </a:solidFill>
          <a:ln w="12700">
            <a:solidFill>
              <a:srgbClr val="2740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0" y="233172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pratiche di due diligence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086600" y="2331720"/>
            <a:ext cx="2743200" cy="960120"/>
          </a:xfrm>
          <a:prstGeom prst="roundRect">
            <a:avLst>
              <a:gd name="adj" fmla="val 8571"/>
            </a:avLst>
          </a:prstGeom>
          <a:solidFill>
            <a:srgbClr val="17294A"/>
          </a:solidFill>
          <a:ln w="12700">
            <a:solidFill>
              <a:srgbClr val="2740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0" y="233172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dati verificati di conformità e valore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086600" y="4480560"/>
            <a:ext cx="2743200" cy="960120"/>
          </a:xfrm>
          <a:prstGeom prst="roundRect">
            <a:avLst>
              <a:gd name="adj" fmla="val 8571"/>
            </a:avLst>
          </a:prstGeom>
          <a:solidFill>
            <a:srgbClr val="17294A"/>
          </a:solidFill>
          <a:ln w="12700">
            <a:solidFill>
              <a:srgbClr val="2740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0" y="448056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Prodotto e valutazioni più accurate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331720" y="4480560"/>
            <a:ext cx="2743200" cy="960120"/>
          </a:xfrm>
          <a:prstGeom prst="roundRect">
            <a:avLst>
              <a:gd name="adj" fmla="val 8571"/>
            </a:avLst>
          </a:prstGeom>
          <a:solidFill>
            <a:srgbClr val="17294A"/>
          </a:solidFill>
          <a:ln w="12700">
            <a:solidFill>
              <a:srgbClr val="2740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448056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clienti, più fiducia, più pratiche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897880" y="2651760"/>
            <a:ext cx="310896" cy="219456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5" name="Shape 13"/>
          <p:cNvSpPr/>
          <p:nvPr/>
        </p:nvSpPr>
        <p:spPr>
          <a:xfrm rot="5400000">
            <a:off x="8366760" y="3611880"/>
            <a:ext cx="310896" cy="219456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6" name="Shape 14"/>
          <p:cNvSpPr/>
          <p:nvPr/>
        </p:nvSpPr>
        <p:spPr>
          <a:xfrm rot="10800000">
            <a:off x="5897880" y="4800600"/>
            <a:ext cx="310896" cy="219456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7" name="Shape 15"/>
          <p:cNvSpPr/>
          <p:nvPr/>
        </p:nvSpPr>
        <p:spPr>
          <a:xfrm rot="16200000">
            <a:off x="3611880" y="3611880"/>
            <a:ext cx="310896" cy="219456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580644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Effetto rete sui dati: costruiamo, pratica dopo pratica, l'MLS e il registro dei titoli che l'Italia non ha mai avuto.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9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VISIONE A 360°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 certificato di conformità alla piattaforma dell'intera transazione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0E1E38"/>
          </a:solidFill>
          <a:ln w="12700">
            <a:solidFill>
              <a:srgbClr val="0E1E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1947672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468880" y="20025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OGGI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58952" y="2468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Due Diligence AI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58952" y="282549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punto d'ingresso: certificato di conformità automatizzato.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70832" y="169164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4F7FC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26864" y="1947672"/>
            <a:ext cx="457200" cy="457200"/>
          </a:xfrm>
          <a:prstGeom prst="ellipse">
            <a:avLst/>
          </a:prstGeom>
          <a:solidFill>
            <a:srgbClr val="C0563C"/>
          </a:solidFill>
          <a:ln/>
        </p:spPr>
      </p:sp>
      <p:sp>
        <p:nvSpPr>
          <p:cNvPr id="12" name="Text 10"/>
          <p:cNvSpPr/>
          <p:nvPr/>
        </p:nvSpPr>
        <p:spPr>
          <a:xfrm>
            <a:off x="4626864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36792" y="20025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50" kern="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ESPANSIONE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26864" y="2468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Valutazione dati-driven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626864" y="282549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AVM molto più accurato dei dati OMI, basato su transazioni reali.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38744" y="169164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4F7FC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94776" y="1947672"/>
            <a:ext cx="457200" cy="457200"/>
          </a:xfrm>
          <a:prstGeom prst="ellipse">
            <a:avLst/>
          </a:prstGeom>
          <a:solidFill>
            <a:srgbClr val="C0563C"/>
          </a:solidFill>
          <a:ln/>
        </p:spPr>
      </p:sp>
      <p:sp>
        <p:nvSpPr>
          <p:cNvPr id="18" name="Text 16"/>
          <p:cNvSpPr/>
          <p:nvPr/>
        </p:nvSpPr>
        <p:spPr>
          <a:xfrm>
            <a:off x="8494776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204704" y="20025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50" kern="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ESPANSIONE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94776" y="2468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Rails della transazione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8494776" y="282549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Notaio, banca, mutuo e rogito orchestrati in digitale.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3685032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4F7FC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8952" y="3941064"/>
            <a:ext cx="457200" cy="457200"/>
          </a:xfrm>
          <a:prstGeom prst="ellipse">
            <a:avLst/>
          </a:prstGeom>
          <a:solidFill>
            <a:srgbClr val="C0563C"/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468880" y="39959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50" kern="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ESPANSIONE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58952" y="44622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Sblocco immobili fermi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758952" y="48188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Eredità e comproprietà frammentate: mappatura e accordo assistiti.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370832" y="3685032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4F7FC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26864" y="3941064"/>
            <a:ext cx="457200" cy="457200"/>
          </a:xfrm>
          <a:prstGeom prst="ellipse">
            <a:avLst/>
          </a:prstGeom>
          <a:solidFill>
            <a:srgbClr val="C0563C"/>
          </a:solidFill>
          <a:ln/>
        </p:spPr>
      </p:sp>
      <p:sp>
        <p:nvSpPr>
          <p:cNvPr id="30" name="Text 28"/>
          <p:cNvSpPr/>
          <p:nvPr/>
        </p:nvSpPr>
        <p:spPr>
          <a:xfrm>
            <a:off x="4626864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336792" y="39959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50" kern="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ESPANSIONE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26864" y="44622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Retrofit energetico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4626864" y="48188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di classe, costi e incentivi per la direttiva Case Green.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238744" y="3685032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4F7FC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94776" y="3941064"/>
            <a:ext cx="457200" cy="457200"/>
          </a:xfrm>
          <a:prstGeom prst="ellipse">
            <a:avLst/>
          </a:prstGeom>
          <a:solidFill>
            <a:srgbClr val="C0563C"/>
          </a:solidFill>
          <a:ln/>
        </p:spPr>
      </p:sp>
      <p:sp>
        <p:nvSpPr>
          <p:cNvPr id="36" name="Text 34"/>
          <p:cNvSpPr/>
          <p:nvPr/>
        </p:nvSpPr>
        <p:spPr>
          <a:xfrm>
            <a:off x="8494776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0204704" y="39959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50" kern="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ESPANSIONE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494776" y="44622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Marketplace finanziario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8494776" y="48188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Mutui e finanziamenti ristrutturazione agganciati al dossier.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MERCATO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mercato target supera di molto il miliardo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sola due diligence tecnico-legale vale ~€1 mld/anno. Con i servizi alla transazione e l'ondata Case Green, il target è multi-miliardo.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7863840" cy="1188720"/>
          </a:xfrm>
          <a:prstGeom prst="roundRect">
            <a:avLst>
              <a:gd name="adj" fmla="val 6923"/>
            </a:avLst>
          </a:prstGeom>
          <a:solidFill>
            <a:srgbClr val="0E1E3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031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057400" y="2167128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~€120 mld transato residenziale/anno + €280 mld di giro d'affari Case Green potenziale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057400" y="2624328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Mercato immobiliare &amp; riqualificazione in Italia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3337560"/>
            <a:ext cx="6035040" cy="1188720"/>
          </a:xfrm>
          <a:prstGeom prst="roundRect">
            <a:avLst>
              <a:gd name="adj" fmla="val 6923"/>
            </a:avLst>
          </a:prstGeom>
          <a:solidFill>
            <a:srgbClr val="C0563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4747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057400" y="353872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Multi-miliardo € / anno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057400" y="399592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6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Servizi tecnico-legali, valutazione e intelligence energetica digitalizzabili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709160"/>
            <a:ext cx="4206240" cy="1188720"/>
          </a:xfrm>
          <a:prstGeom prst="roundRect">
            <a:avLst>
              <a:gd name="adj" fmla="val 6923"/>
            </a:avLst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8463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057400" y="491032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Centinaia di mln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057400" y="536752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4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Beachhead 0-3 anni: DD B2B per reti, notai, banche, fondi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549640" y="1965960"/>
            <a:ext cx="3108960" cy="3931920"/>
          </a:xfrm>
          <a:prstGeom prst="roundRect">
            <a:avLst>
              <a:gd name="adj" fmla="val 2647"/>
            </a:avLst>
          </a:prstGeom>
          <a:solidFill>
            <a:srgbClr val="0E1E38"/>
          </a:solidFill>
          <a:ln w="12700">
            <a:solidFill>
              <a:srgbClr val="0E1E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0" y="21488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numeri che reggono la tesi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778240" y="2880360"/>
            <a:ext cx="2697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1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719.578 </a:t>
            </a:r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compravendite residenziali (2024)
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€2,8 mld </a:t>
            </a:r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ricavi intermediazione; €36 mld servizi immobiliari
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€85 mld </a:t>
            </a:r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investimenti Case Green entro il 2030
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~500.000 </a:t>
            </a:r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abitazioni/anno da riqualificare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2920" y="60533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Fonti: OMI–Agenzia delle Entrate (2024); Il Sole 24 Ore; ACCA/BibLus, rinnovabili.it (EPBD). SAM/SOM: stime, da validare in diligence.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MODELLO DI RICAVI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Quattro flussi che si accendono in sequenza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210312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17294A"/>
          </a:solidFill>
          <a:ln w="12700">
            <a:solidFill>
              <a:srgbClr val="2740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22860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221284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Pay-per-dossier / SaaS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371600" y="257860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 di agenzie e notai: canone + pratica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3090672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17294A"/>
          </a:solidFill>
          <a:ln w="12700">
            <a:solidFill>
              <a:srgbClr val="2740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3273552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3273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32004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371600" y="35661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Banche, SGR e fondi: contratti a volume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4078224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17294A"/>
          </a:solidFill>
          <a:ln w="12700">
            <a:solidFill>
              <a:srgbClr val="2740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4261104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42611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418795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Dati &amp; AVM in licenza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371600" y="45537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Valutazioni e dataset di conformità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5065776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17294A"/>
          </a:solidFill>
          <a:ln w="12700">
            <a:solidFill>
              <a:srgbClr val="2740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5248656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5248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517550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Take-rate transazioni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371600" y="554126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Mutui e finanziamenti (fase 2)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26480" y="1874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di ricavi nel tempo (illustrativo, % del fatturato)</a:t>
            </a:r>
            <a:endParaRPr lang="en-US" sz="12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6035040" y="2286000"/>
          <a:ext cx="56692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Text 23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9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COMPETITIVA · PANORAMA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quadrante “conformità AI + dati Italia” è vuoto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layer della filiera ha un player forte. Nessuno presidia la conformità/titolo con AI e dati pubblici italiani.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 rot="16200000">
            <a:off x="-1417320" y="3520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AI-native · dati Italia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68880" y="58704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Copertura del layer:  vetrina → conformità → transazione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1965960"/>
            <a:ext cx="4434840" cy="1737360"/>
          </a:xfrm>
          <a:prstGeom prst="roundRect">
            <a:avLst>
              <a:gd name="adj" fmla="val 4211"/>
            </a:avLst>
          </a:prstGeom>
          <a:solidFill>
            <a:srgbClr val="F4F7FC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70048" y="2112264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Valutazione AI, solo il prezzo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670048" y="265176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Reopla / Sprengnetter · CRIF RES · Nomisma · PriceHubble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040880" y="1965960"/>
            <a:ext cx="4434840" cy="1737360"/>
          </a:xfrm>
          <a:prstGeom prst="roundRect">
            <a:avLst>
              <a:gd name="adj" fmla="val 4211"/>
            </a:avLst>
          </a:prstGeom>
          <a:solidFill>
            <a:srgbClr val="0E1E38"/>
          </a:solidFill>
          <a:ln w="12700">
            <a:solidFill>
              <a:srgbClr val="0E1E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42048" y="2112264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Conformità + transazione · AI-native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242048" y="267919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CONFORME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242048" y="322783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Orbital (UK) · non opera in Italia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468880" y="3840480"/>
            <a:ext cx="4434840" cy="1737360"/>
          </a:xfrm>
          <a:prstGeom prst="roundRect">
            <a:avLst>
              <a:gd name="adj" fmla="val 4211"/>
            </a:avLst>
          </a:prstGeom>
          <a:solidFill>
            <a:srgbClr val="F4F7FC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70048" y="3986784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Vetrina &amp; generazione lead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670048" y="452628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Immobiliare.it · Idealista · Casa.it · Wikicasa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040880" y="3840480"/>
            <a:ext cx="4434840" cy="1737360"/>
          </a:xfrm>
          <a:prstGeom prst="roundRect">
            <a:avLst>
              <a:gd name="adj" fmla="val 4211"/>
            </a:avLst>
          </a:prstGeom>
          <a:solidFill>
            <a:srgbClr val="F4F7FC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42048" y="3986784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Transazione manuale o capital-heavy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242048" y="452628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iBuyer Casavo · studi di DD (geometri/architetti) · notai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COMPETITIVA · DETTAGLIO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 fa cosa, e dove si ferma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155680" cy="457200"/>
          </a:xfrm>
          <a:prstGeom prst="roundRect">
            <a:avLst>
              <a:gd name="adj" fmla="val 12000"/>
            </a:avLst>
          </a:prstGeom>
          <a:solidFill>
            <a:srgbClr val="0E1E38"/>
          </a:solidFill>
          <a:ln/>
        </p:spPr>
      </p:sp>
      <p:sp>
        <p:nvSpPr>
          <p:cNvPr id="5" name="Text 3"/>
          <p:cNvSpPr/>
          <p:nvPr/>
        </p:nvSpPr>
        <p:spPr>
          <a:xfrm>
            <a:off x="612648" y="1600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990088" y="1600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636008" y="1600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di forza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470648" y="16002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 si ferma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168128" y="1600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Minaccia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12648" y="210312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Immobiliare.it · Idealista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90088" y="210312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Portali annunci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36008" y="210312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Vetrina, lead e traffico dominante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470648" y="2103120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toccano conformità né transazione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168128" y="210312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2615184"/>
            <a:ext cx="11155680" cy="512064"/>
          </a:xfrm>
          <a:prstGeom prst="roundRect">
            <a:avLst>
              <a:gd name="adj" fmla="val 3571"/>
            </a:avLst>
          </a:prstGeom>
          <a:solidFill>
            <a:srgbClr val="EEF3FA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" y="2615184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Casavo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90088" y="2615184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iBuyer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36008" y="2615184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Liquidità in ~30 gg; €385M raccolti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470648" y="2615184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 interna, non è un prodotto; capital-heavy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168128" y="2615184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12648" y="3127248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Reopla · CRIF RES · Nomisma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990088" y="3127248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AVM / valutazione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36008" y="3127248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Stime automatiche accurate, a scala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470648" y="3127248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il prezzo, non conformità/titolo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168128" y="3127248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3639312"/>
            <a:ext cx="11155680" cy="512064"/>
          </a:xfrm>
          <a:prstGeom prst="roundRect">
            <a:avLst>
              <a:gd name="adj" fmla="val 3571"/>
            </a:avLst>
          </a:prstGeom>
          <a:solidFill>
            <a:srgbClr val="EEF3FA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" y="363931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geometri/architetti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990088" y="3639312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 tradizionale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636008" y="3639312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Competenza normativa profonda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470648" y="3639312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Manuale, frammentata, non AI-native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168128" y="3639312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Bassa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2648" y="4151376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Deepki · piattaforme retrofit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990088" y="4151376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/ Case Green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636008" y="4151376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energetici e ristrutturazione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470648" y="4151376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toccano titolo né transazione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0168128" y="4151376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Bassa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02920" y="4663440"/>
            <a:ext cx="11155680" cy="512064"/>
          </a:xfrm>
          <a:prstGeom prst="roundRect">
            <a:avLst>
              <a:gd name="adj" fmla="val 3571"/>
            </a:avLst>
          </a:prstGeom>
          <a:solidFill>
            <a:srgbClr val="EEF3FA"/>
          </a:solidFill>
          <a:ln/>
        </p:spPr>
      </p:sp>
      <p:sp>
        <p:nvSpPr>
          <p:cNvPr id="38" name="Text 36"/>
          <p:cNvSpPr/>
          <p:nvPr/>
        </p:nvSpPr>
        <p:spPr>
          <a:xfrm>
            <a:off x="612648" y="466344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Orbital (UK)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990088" y="466344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DD legale RE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636008" y="466344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$60M Series B; 200k transazioni/anno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470648" y="4663440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UK/US; catasto e conformità IT non replicabili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0168128" y="466344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Futura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02920" y="5285232"/>
            <a:ext cx="11155680" cy="566928"/>
          </a:xfrm>
          <a:prstGeom prst="roundRect">
            <a:avLst>
              <a:gd name="adj" fmla="val 9677"/>
            </a:avLst>
          </a:prstGeom>
          <a:solidFill>
            <a:srgbClr val="0E1E38"/>
          </a:solidFill>
          <a:ln/>
        </p:spPr>
      </p:sp>
      <p:sp>
        <p:nvSpPr>
          <p:cNvPr id="44" name="Text 42"/>
          <p:cNvSpPr/>
          <p:nvPr/>
        </p:nvSpPr>
        <p:spPr>
          <a:xfrm>
            <a:off x="731520" y="5285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quadrante conformità-AI su dati italiani è vuoto: </a:t>
            </a:r>
            <a:pPr indent="0" marL="0">
              <a:buNone/>
            </a:pPr>
            <a:r>
              <a:rPr lang="en-US" sz="13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lo occupa per primo costruisce il data-moat che lo blinda, e diventa il layer su cui poggiano tutti gli altri.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02920" y="599846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Fonti: EU-Startups / Brighton Park (Orbital, Series B 2026); Economyup / Silicon Canals (Casavo, Reopla); CRIF RES. Dati a inizio 2026.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VALIDAZIONE INTERNAZIONALE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modello funziona già all'estero. In Italia il campo è aperto.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7556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digitalizza conformità e transazione immobiliare, fuori dall'Italia, diventa unicorno o monopolio quotato.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286000"/>
            <a:ext cx="3611880" cy="2606040"/>
          </a:xfrm>
          <a:prstGeom prst="roundRect">
            <a:avLst>
              <a:gd name="adj" fmla="val 3509"/>
            </a:avLst>
          </a:prstGeom>
          <a:solidFill>
            <a:srgbClr val="17294A"/>
          </a:solidFill>
          <a:ln w="12700">
            <a:solidFill>
              <a:srgbClr val="2740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4963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REGNO UNITO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Orbital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35584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$60M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B (2026) per l'AI di due diligence legale immobiliare. ~200k transazioni/anno.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0" y="2286000"/>
            <a:ext cx="3611880" cy="2606040"/>
          </a:xfrm>
          <a:prstGeom prst="roundRect">
            <a:avLst>
              <a:gd name="adj" fmla="val 3509"/>
            </a:avLst>
          </a:prstGeom>
          <a:solidFill>
            <a:srgbClr val="17294A"/>
          </a:solidFill>
          <a:ln w="12700">
            <a:solidFill>
              <a:srgbClr val="2740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24963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26280" y="2788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Qualia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26280" y="335584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~$1 mld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526280" y="41148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Valutazione da unicorno; infrastruttura di title &amp; closing. ~$207M raccolti.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92440" y="2286000"/>
            <a:ext cx="3611880" cy="2606040"/>
          </a:xfrm>
          <a:prstGeom prst="roundRect">
            <a:avLst>
              <a:gd name="adj" fmla="val 3509"/>
            </a:avLst>
          </a:prstGeom>
          <a:solidFill>
            <a:srgbClr val="17294A"/>
          </a:solidFill>
          <a:ln w="12700">
            <a:solidFill>
              <a:srgbClr val="2740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24963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21040" y="2788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PEXA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21040" y="335584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~AU$2 mld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321040" y="41148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Capitalizzazione in borsa (ASX); ~90% delle transazioni immobiliari nazionali sul suo exchange.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5029200"/>
            <a:ext cx="11155680" cy="749808"/>
          </a:xfrm>
          <a:prstGeom prst="roundRect">
            <a:avLst>
              <a:gd name="adj" fmla="val 9756"/>
            </a:avLst>
          </a:prstGeom>
          <a:solidFill>
            <a:srgbClr val="0A1730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029200"/>
            <a:ext cx="1060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Italia non esiste nessuno di questi. </a:t>
            </a:r>
            <a:pPr indent="0" marL="0">
              <a:buNone/>
            </a:pPr>
            <a:r>
              <a:rPr lang="en-US" sz="14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il problema, conformità e catasto, è più grande: noi replichiamo il modello e lo adattiamo, per essere il primo player italiano.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59436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Fonti: Orbital / Brighton Park (Series B 2026); Qualia (Series D, unicorno ~$1 mld); PEXA Group (ASX: PXA). Cifre indicative.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ADESSO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 venti a favore convergono nel 2026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2148840"/>
            <a:ext cx="11155680" cy="1234440"/>
          </a:xfrm>
          <a:prstGeom prst="roundRect">
            <a:avLst>
              <a:gd name="adj" fmla="val 6667"/>
            </a:avLst>
          </a:prstGeom>
          <a:solidFill>
            <a:srgbClr val="F4F7FC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487168"/>
            <a:ext cx="566928" cy="566928"/>
          </a:xfrm>
          <a:prstGeom prst="ellipse">
            <a:avLst/>
          </a:prstGeom>
          <a:solidFill>
            <a:srgbClr val="C0563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87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233172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Direttiva UE “Case Green”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806440" y="2313432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EPBD (recepimento entro maggio 2026) impone l'adeguamento di ~500.000 abitazioni/anno: ~€85 mld di investimenti entro il 2030. Domanda forzata e finanziabile.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3520440"/>
            <a:ext cx="11155680" cy="1234440"/>
          </a:xfrm>
          <a:prstGeom prst="roundRect">
            <a:avLst>
              <a:gd name="adj" fmla="val 6667"/>
            </a:avLst>
          </a:prstGeom>
          <a:solidFill>
            <a:srgbClr val="F4F7FC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858768"/>
            <a:ext cx="566928" cy="566928"/>
          </a:xfrm>
          <a:prstGeom prst="ellipse">
            <a:avLst/>
          </a:prstGeom>
          <a:solidFill>
            <a:srgbClr val="0E1E38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858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0200" y="370332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 AI finalmente maturi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806440" y="3685032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compiti document-heavy e rule-heavy, come leggere visure, incrociare planimetrie e verificare regole, sono ora automatizzabili con affidabilità.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4892040"/>
            <a:ext cx="11155680" cy="1234440"/>
          </a:xfrm>
          <a:prstGeom prst="roundRect">
            <a:avLst>
              <a:gd name="adj" fmla="val 6667"/>
            </a:avLst>
          </a:prstGeom>
          <a:solidFill>
            <a:srgbClr val="F4F7FC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5230368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230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507492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Eredità del Superbonus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806440" y="5056632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ecosistema di dati, cantieri e pratiche edilizie mai visto prima, oggi disponibile per essere strutturato.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NOI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55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 scommettiamo sull'AI da costruire. Verticalizziamo una piattaforma che già esiste.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2468880"/>
            <a:ext cx="5852160" cy="1097280"/>
          </a:xfrm>
          <a:prstGeom prst="roundRect">
            <a:avLst>
              <a:gd name="adj" fmla="val 7500"/>
            </a:avLst>
          </a:prstGeom>
          <a:solidFill>
            <a:srgbClr val="17294A"/>
          </a:solidFill>
          <a:ln w="12700">
            <a:solidFill>
              <a:srgbClr val="2740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615184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Piattaforma agentica pronta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301752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L'infrastruttura AI agentica è già in produzione: non la costruiamo da zero.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3703320"/>
            <a:ext cx="5852160" cy="1097280"/>
          </a:xfrm>
          <a:prstGeom prst="roundRect">
            <a:avLst>
              <a:gd name="adj" fmla="val 7500"/>
            </a:avLst>
          </a:prstGeom>
          <a:solidFill>
            <a:srgbClr val="17294A"/>
          </a:solidFill>
          <a:ln w="12700">
            <a:solidFill>
              <a:srgbClr val="2740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849624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Competenza AI enterprise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42519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Esperienza consolidata di AI enterprise e integrazione su processi complessi.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4937760"/>
            <a:ext cx="5852160" cy="1097280"/>
          </a:xfrm>
          <a:prstGeom prst="roundRect">
            <a:avLst>
              <a:gd name="adj" fmla="val 7500"/>
            </a:avLst>
          </a:prstGeom>
          <a:solidFill>
            <a:srgbClr val="17294A"/>
          </a:solidFill>
          <a:ln w="12700">
            <a:solidFill>
              <a:srgbClr val="2740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5084064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Time-to-market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548640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Partiamo da una vertical application su un mercato rotto, non da un foglio bianco.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0" y="2468880"/>
            <a:ext cx="4800600" cy="3566160"/>
          </a:xfrm>
          <a:prstGeom prst="roundRect">
            <a:avLst>
              <a:gd name="adj" fmla="val 2564"/>
            </a:avLst>
          </a:prstGeom>
          <a:solidFill>
            <a:srgbClr val="0A1730"/>
          </a:solidFill>
          <a:ln w="12700">
            <a:solidFill>
              <a:srgbClr val="2740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0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DB0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stack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178040" y="3108960"/>
            <a:ext cx="4160520" cy="868680"/>
          </a:xfrm>
          <a:prstGeom prst="roundRect">
            <a:avLst>
              <a:gd name="adj" fmla="val 8421"/>
            </a:avLst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7178040" y="32004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Conforme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178040" y="358444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1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app · real estate Italia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78040" y="4160520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17294A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78040" y="416052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Piattaforma agentica in produzione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178040" y="5074920"/>
            <a:ext cx="4160520" cy="731520"/>
          </a:xfrm>
          <a:prstGeom prst="roundRect">
            <a:avLst>
              <a:gd name="adj" fmla="val 10000"/>
            </a:avLst>
          </a:prstGeom>
          <a:solidFill>
            <a:srgbClr val="0E2140"/>
          </a:solidFill>
          <a:ln w="12700">
            <a:solidFill>
              <a:srgbClr val="2740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78040" y="507492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Competenza AI enterprise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9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 wedge alla piattaforma, in tre fasi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214884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0E1E38"/>
          </a:solidFill>
          <a:ln w="12700">
            <a:solidFill>
              <a:srgbClr val="0E1E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46888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C0563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68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0632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0-18 mesi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34290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wedge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77240" y="40233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di due diligence in produzione. Primi clienti B2B: reti, notai, banche. Costruzione del dataset proprietario.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70832" y="214884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F4F7FC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45152" y="246888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0E1E38"/>
          </a:solidFill>
          <a:ln/>
        </p:spPr>
      </p:sp>
      <p:sp>
        <p:nvSpPr>
          <p:cNvPr id="12" name="Text 10"/>
          <p:cNvSpPr/>
          <p:nvPr/>
        </p:nvSpPr>
        <p:spPr>
          <a:xfrm>
            <a:off x="4645152" y="2468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45152" y="30632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18-36 mesi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45152" y="34290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Dati &amp; transazione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45152" y="40233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AVM proprietario, rails della transazione digitale, sblocco degli immobili fermi. Il data-moat diventa prodotto.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38744" y="214884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F4F7FC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13064" y="246888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8513064" y="2468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13064" y="30632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mesi +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13064" y="34290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Piattaforma 360°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513064" y="40233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energetica Case Green e marketplace finanziario. Scala nazionale, poi replicabilità europea.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C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640080"/>
            <a:ext cx="457200" cy="1188720"/>
          </a:xfrm>
          <a:prstGeom prst="roundRect">
            <a:avLst>
              <a:gd name="adj" fmla="val 12000"/>
            </a:avLst>
          </a:prstGeom>
          <a:solidFill>
            <a:srgbClr val="17294A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1097280"/>
            <a:ext cx="457200" cy="731520"/>
          </a:xfrm>
          <a:prstGeom prst="roundRect">
            <a:avLst>
              <a:gd name="adj" fmla="val 12000"/>
            </a:avLst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PROPOSTA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Costruiamo il layer di fiducia della compravendita immobiliare italiana.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15468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Immobiliare.it ha digitalizzato l'annuncio. </a:t>
            </a:r>
            <a:pPr indent="0" marL="0">
              <a:buNone/>
            </a:pPr>
            <a:r>
              <a:rPr lang="en-US" sz="18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 digitalizziamo la parte che fa saltare le compravendite, la conformità, e da lì diventiamo il layer di dati e transazione che il mercato immobiliare italiano non ha mai avuto.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572000"/>
            <a:ext cx="3520440" cy="1234440"/>
          </a:xfrm>
          <a:prstGeom prst="roundRect">
            <a:avLst>
              <a:gd name="adj" fmla="val 6667"/>
            </a:avLst>
          </a:prstGeom>
          <a:solidFill>
            <a:srgbClr val="17294A"/>
          </a:solidFill>
          <a:ln w="12700">
            <a:solidFill>
              <a:srgbClr val="2740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709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Capitale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51663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team tecnico + verticale legale e go-to-market B2B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4572000"/>
            <a:ext cx="3520440" cy="1234440"/>
          </a:xfrm>
          <a:prstGeom prst="roundRect">
            <a:avLst>
              <a:gd name="adj" fmla="val 6667"/>
            </a:avLst>
          </a:prstGeom>
          <a:solidFill>
            <a:srgbClr val="17294A"/>
          </a:solidFill>
          <a:ln w="12700">
            <a:solidFill>
              <a:srgbClr val="2740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4709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mesi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72000" y="51663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portare il wedge in produzione e costruire il data-moat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4572000"/>
            <a:ext cx="3520440" cy="1234440"/>
          </a:xfrm>
          <a:prstGeom prst="roundRect">
            <a:avLst>
              <a:gd name="adj" fmla="val 6667"/>
            </a:avLst>
          </a:prstGeom>
          <a:solidFill>
            <a:srgbClr val="17294A"/>
          </a:solidFill>
          <a:ln w="12700">
            <a:solidFill>
              <a:srgbClr val="2740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4709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Obiettivo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275320" y="51663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essere il primo player del layer di conformità in Italia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6172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 Martino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2026-07-29T16:34:11Z</dcterms:created>
  <dcterms:modified xsi:type="dcterms:W3CDTF">2026-07-29T16:34:11Z</dcterms:modified>
</cp:coreProperties>
</file>