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SaaS / dossier</c:v>
                </c:pt>
              </c:strCache>
            </c:strRef>
          </c:tx>
          <c:spPr>
            <a:solidFill>
              <a:srgbClr val="E8A33D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45</c:v>
                </c:pt>
                <c:pt idx="2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Enterprise</c:v>
                </c:pt>
              </c:strCache>
            </c:strRef>
          </c:tx>
          <c:spPr>
            <a:solidFill>
              <a:srgbClr val="6FA8D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35</c:v>
                </c:pt>
                <c:pt idx="2">
                  <c:v>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Dati &amp; AVM</c:v>
                </c:pt>
              </c:strCache>
            </c:strRef>
          </c:tx>
          <c:spPr>
            <a:solidFill>
              <a:srgbClr val="C0563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15</c:v>
                </c:pt>
                <c:pt idx="2">
                  <c:v>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Take-rate</c:v>
                </c:pt>
              </c:strCache>
            </c:strRef>
          </c:tx>
          <c:spPr>
            <a:solidFill>
              <a:srgbClr val="7FC8A9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0E1E38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AF1F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EAF1F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480560"/>
            <a:ext cx="502920" cy="1371600"/>
          </a:xfrm>
          <a:prstGeom prst="roundRect">
            <a:avLst>
              <a:gd name="adj" fmla="val 10909"/>
            </a:avLst>
          </a:prstGeom>
          <a:solidFill>
            <a:srgbClr val="17294A"/>
          </a:solidFill>
          <a:ln w="12700">
            <a:solidFill>
              <a:srgbClr val="2237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5120640"/>
            <a:ext cx="502920" cy="822960"/>
          </a:xfrm>
          <a:prstGeom prst="roundRect">
            <a:avLst>
              <a:gd name="adj" fmla="val 10909"/>
            </a:avLst>
          </a:prstGeom>
          <a:solidFill>
            <a:srgbClr val="17294A"/>
          </a:solidFill>
          <a:ln w="12700">
            <a:solidFill>
              <a:srgbClr val="2237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09960" y="3840480"/>
            <a:ext cx="502920" cy="2103120"/>
          </a:xfrm>
          <a:prstGeom prst="roundRect">
            <a:avLst>
              <a:gd name="adj" fmla="val 1090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34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PROPTECH · INTELLIGENZA ARTIFICIALE · ITALIA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Conforme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L'infrastruttura AI della compravendita immobiliare italiana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37947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 altro portale di annunci. </a:t>
            </a:r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Digitalizziamo la parte che fa saltare le compravendite: la conformità.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per investitore  ·  Luca Martino — Skylabs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L'annuncio è risolto. La transazione è rotta.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6002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Immobiliare.it e Idealista dominano la vetrina. Ma dietro l'annuncio, la compravendita in Italia è ancora lenta, opaca e analogica — e il collo di bottiglia è sempre lo stesso.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69748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53512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535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8437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conformità blocca tutto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852160" y="28437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difformità catastale/urbanistica è la prima causa di rogiti che saltano o si allungano dal notaio.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3904488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4050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dati vivono in silos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852160" y="4050792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Catasto, archivi edilizi del Comune, visure ipotecarie, APE, vincoli: nessuno di questi sistemi si parla.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5111496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5367528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367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5257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Settimane di lavoro manuale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52160" y="525780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immobile servono geometra, notaio e avvocato per ricostruire un dossier che oggi è tutto a mano.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possiede il layer di conformità e titolo possiede una cosa che in Italia non è mai esistita.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~75%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 i più alti tassi di proprietà della casa in Europa: un patrimonio enorme e frammentato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Milioni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immobili con difformità catastali o urbanistiche da regolarizzare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244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~€100 mld+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32104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annuo delle compravendite residenziali (ordine di grandezza)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50749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L'equivalente di un MLS / registro dei titoli — che il mercato immobiliare italiano, a differenza di quello USA, non ha mai avuto.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Cifre a livello di mercato, indicative / ordine di grandezza.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 — IL PUNTO D'INGRESSO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agente AI che costruisce e verifica la due diligence in ore, non settimane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952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58952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indirizzo o un dato catastale. Nient'altro.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72968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0" name="Shape 8"/>
          <p:cNvSpPr/>
          <p:nvPr/>
        </p:nvSpPr>
        <p:spPr>
          <a:xfrm>
            <a:off x="3410712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6744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3666744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66744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Raccolta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666744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L'agente recupera visure, planimetrie, atti, archivi edilizi e vincoli.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80760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6" name="Shape 14"/>
          <p:cNvSpPr/>
          <p:nvPr/>
        </p:nvSpPr>
        <p:spPr>
          <a:xfrm>
            <a:off x="6318504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74536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574536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74536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AI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574536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 automatico catastale ↔ urbanistico ↔ stato di fatto; stima difformità e sanabilità.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88552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2" name="Shape 20"/>
          <p:cNvSpPr/>
          <p:nvPr/>
        </p:nvSpPr>
        <p:spPr>
          <a:xfrm>
            <a:off x="9226296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82328" y="25603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/>
          <p:nvPr/>
        </p:nvSpPr>
        <p:spPr>
          <a:xfrm>
            <a:off x="9482328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82328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Certificato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482328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di due diligence pronto per agenzia, notaio, banca o fondo.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54406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iniziale = B2B. </a:t>
            </a:r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Agenzie di rete, notai, banche (perizie mutui), fondi e SGR, aste. Pagano già oggi per questo lavoro — fatto male e lento. Vendiamo tempo e riduzione del rischio, non “AI”.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VANTAGGIO DIFENDIBILE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Ogni pratica alimenta un dataset che nessuno può copiare dalla vetrina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74920" y="3063240"/>
            <a:ext cx="2011680" cy="20116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5074920" y="306324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PROPRIETARI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023360" y="1874520"/>
            <a:ext cx="2743200" cy="1005840"/>
          </a:xfrm>
          <a:prstGeom prst="roundRect">
            <a:avLst>
              <a:gd name="adj" fmla="val 8182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60520" y="18745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pratiche di due diligence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75320" y="2880360"/>
            <a:ext cx="2743200" cy="1005840"/>
          </a:xfrm>
          <a:prstGeom prst="roundRect">
            <a:avLst>
              <a:gd name="adj" fmla="val 8182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0" y="2880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dati verificati di conformità e valore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023360" y="4251960"/>
            <a:ext cx="2743200" cy="1005840"/>
          </a:xfrm>
          <a:prstGeom prst="roundRect">
            <a:avLst>
              <a:gd name="adj" fmla="val 8182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60520" y="42519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 e valutazioni più accurate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2880360"/>
            <a:ext cx="2743200" cy="1005840"/>
          </a:xfrm>
          <a:prstGeom prst="roundRect">
            <a:avLst>
              <a:gd name="adj" fmla="val 8182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880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clienti, più fiducia, più pratiche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Effetto rete sui dati: costruiamo, pratica dopo pratica, l'MLS e il registro dei titoli che l'Italia non ha mai avuto.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VISIONE A 360°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certificato di conformità alla piattaforma dell'intera transazione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" y="194767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468880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952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 AI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58952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punto d'ingresso: certificato di conformità automatizzato.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26864" y="1947672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26864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36792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26864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Valutazione dati-driven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626864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AVM molto più accurato dei dati OMI, basato su transazioni reali.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38744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94776" y="1947672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494776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204704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94776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Rails della transazione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8494776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Notaio, banca, mutuo e rogito orchestrati in digitale.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8952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24" name="Text 22"/>
          <p:cNvSpPr/>
          <p:nvPr/>
        </p:nvSpPr>
        <p:spPr>
          <a:xfrm>
            <a:off x="758952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468880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58952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Sblocco immobili fermi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758952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Eredità e comproprietà frammentate: mappatura e accordo assistiti.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370832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26864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30" name="Text 28"/>
          <p:cNvSpPr/>
          <p:nvPr/>
        </p:nvSpPr>
        <p:spPr>
          <a:xfrm>
            <a:off x="4626864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336792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26864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Retrofit energetico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4626864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di classe, costi e incentivi per la direttiva Case Green.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238744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94776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36" name="Text 34"/>
          <p:cNvSpPr/>
          <p:nvPr/>
        </p:nvSpPr>
        <p:spPr>
          <a:xfrm>
            <a:off x="8494776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204704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494776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Marketplace finanziario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8494776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Mutui e finanziamenti ristrutturazione agganciati al dossier.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MERCATO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mercato enorme, con un punto d'ingresso stretto e monetizzabile subito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5120640" cy="1143000"/>
          </a:xfrm>
          <a:prstGeom prst="roundRect">
            <a:avLst>
              <a:gd name="adj" fmla="val 7200"/>
            </a:avLst>
          </a:prstGeom>
          <a:solidFill>
            <a:srgbClr val="0E1E3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313432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03120" y="23317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~€100 mld+ transato/anno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103120" y="27706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Mercato immobiliare &amp; servizi collegati in Italia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474720"/>
            <a:ext cx="3840480" cy="1143000"/>
          </a:xfrm>
          <a:prstGeom prst="roundRect">
            <a:avLst>
              <a:gd name="adj" fmla="val 7200"/>
            </a:avLst>
          </a:prstGeom>
          <a:solidFill>
            <a:srgbClr val="C0563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639312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10312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Miliardi di € di spesa annua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103120" y="4096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diligence, valutazione e servizi di transazione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4800600"/>
            <a:ext cx="2560320" cy="1143000"/>
          </a:xfrm>
          <a:prstGeom prst="roundRect">
            <a:avLst>
              <a:gd name="adj" fmla="val 72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965192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03120" y="4983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Centinaia di mln raggiungibili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54223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1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iniziale: DD B2B per reti, notai, banche, fondi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732520" y="2148840"/>
            <a:ext cx="2926080" cy="3703320"/>
          </a:xfrm>
          <a:prstGeom prst="roundRect">
            <a:avLst>
              <a:gd name="adj" fmla="val 281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0" y="23317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si vince dal SOM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006840" y="278892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Domanda già esistente e pagante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di vendita B2B veloce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pratica costruisce il data-moat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lì si espande a 360°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Dimensionamenti indicativi / ordine di grandezza, da validare in fase di diligence.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MODELLO DI RICAVI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flussi che si accendono in sequenza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28600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2128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Pay-per-dossier / SaaS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71600" y="25786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 di agenzie e notai: canone + pratica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3273552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273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371600" y="35661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Banche, SGR e fondi: contratti a volume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78224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4261104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42611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187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 &amp; AVM in licenza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371600" y="45537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Valutazioni e dataset di conformità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65776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5248656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5248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51755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Take-rate transazioni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371600" y="55412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Mutui e finanziamenti (fase 2)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2648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 ricavi nel tempo (illustrativo, % del fatturato)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6035040" y="228600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ADESSO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venti a favore convergono nel 2026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87168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3317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Direttiva UE “Case Green”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806440" y="23134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EPBD impone l'adeguamento energetico di milioni di edifici entro il 2030/2033: un'ondata di ristrutturazioni forzata e finanziabile.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5204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858768"/>
            <a:ext cx="566928" cy="566928"/>
          </a:xfrm>
          <a:prstGeom prst="ellipse">
            <a:avLst/>
          </a:prstGeom>
          <a:solidFill>
            <a:srgbClr val="0E1E3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858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7033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 AI finalmente maturi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806440" y="36850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compiti document-heavy e rule-heavy — leggere visure, incrociare planimetrie, verificare regole — sono ora automatizzabili con affidabilità.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48920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230368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230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5074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Eredità del Superbonus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806440" y="50566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ecosistema di dati, cantieri e pratiche edilizie mai visto prima, oggi disponibile per essere strutturato.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NOI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 scommettiamo sull'AI da costruire. Verticalizziamo una piattaforma che già esiste.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61518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301752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piattaforma agentica di Skylabs: l'infrastruttura AI è già in produzione, non da inventare.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70332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84962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Skylabs / SAE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251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Competenza consolidata di AI enterprise e integrazione su processi complessi.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493776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08406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Time-to-market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54864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Partiamo da una vertical application su un mercato rotto — non da un foglio bianco.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0" y="2468880"/>
            <a:ext cx="4800600" cy="3566160"/>
          </a:xfrm>
          <a:prstGeom prst="roundRect">
            <a:avLst>
              <a:gd name="adj" fmla="val 2564"/>
            </a:avLst>
          </a:prstGeom>
          <a:solidFill>
            <a:srgbClr val="0A1730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B0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stack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178040" y="3108960"/>
            <a:ext cx="4160520" cy="868680"/>
          </a:xfrm>
          <a:prstGeom prst="roundRect">
            <a:avLst>
              <a:gd name="adj" fmla="val 8421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178040" y="32004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178040" y="358444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1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app — real estate Italia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78040" y="4160520"/>
            <a:ext cx="4160520" cy="777240"/>
          </a:xfrm>
          <a:prstGeom prst="roundRect">
            <a:avLst>
              <a:gd name="adj" fmla="val 9412"/>
            </a:avLst>
          </a:prstGeom>
          <a:solidFill>
            <a:srgbClr val="17294A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78040" y="416052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Universe — piattaforma agentica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178040" y="507492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0E2140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78040" y="50749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Skylabs / SAE — AI enterprise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wedge alla piattaforma, in tre fasi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– 18 mesi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wedge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di due diligence in produzione. Primi clienti B2B: reti, notai, banche. Costruzione del dataset proprietario.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0832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5152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0E1E38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45152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– 36 mesi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45152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 &amp; transazione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45152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AVM proprietario, rails della transazione digitale, sblocco degli immobili fermi. Il data-moat diventa prodotto.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38744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13064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8513064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13064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mesi 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13064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Piattaforma 360°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513064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energetica Case Green e marketplace finanziario. Scala nazionale, poi replicabilità europea.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640080"/>
            <a:ext cx="457200" cy="1188720"/>
          </a:xfrm>
          <a:prstGeom prst="roundRect">
            <a:avLst>
              <a:gd name="adj" fmla="val 12000"/>
            </a:avLst>
          </a:prstGeom>
          <a:solidFill>
            <a:srgbClr val="17294A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1097280"/>
            <a:ext cx="457200" cy="73152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Costruiamo il layer di fiducia della compravendita immobiliare italiana.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Immobiliare.it ha digitalizzato l'annuncio. </a:t>
            </a:r>
            <a:pPr indent="0" marL="0">
              <a:buNone/>
            </a:pPr>
            <a:r>
              <a:rPr lang="en-US" sz="18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 digitalizziamo la parte che fa saltare le compravendite — la conformità — e da lì diventiamo il layer di dati e transazione che il mercato immobiliare italiano non ha mai avuto.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 tecnico + verticale legale e go-to-market B2B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mesi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portare il wedge in produzione e costruire il data-moat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Obiettivo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7532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essere il primo player del layer di conformità in Italia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6172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 Martino  ·  Skylabs  ·  luca.martino@skylabs.it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2026-07-29T15:13:55Z</dcterms:created>
  <dcterms:modified xsi:type="dcterms:W3CDTF">2026-07-29T15:13:55Z</dcterms:modified>
</cp:coreProperties>
</file>