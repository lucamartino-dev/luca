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SaaS / dossier</c:v>
                </c:pt>
              </c:strCache>
            </c:strRef>
          </c:tx>
          <c:spPr>
            <a:solidFill>
              <a:srgbClr val="E8A33D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45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6FA8D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35</c:v>
                </c:pt>
                <c:pt idx="2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Dati &amp; AVM</c:v>
                </c:pt>
              </c:strCache>
            </c:strRef>
          </c:tx>
          <c:spPr>
            <a:solidFill>
              <a:srgbClr val="C056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15</c:v>
                </c:pt>
                <c:pt idx="2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Take-rate</c:v>
                </c:pt>
              </c:strCache>
            </c:strRef>
          </c:tx>
          <c:spPr>
            <a:solidFill>
              <a:srgbClr val="7FC8A9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E1E38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0E1E38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AF1F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EAF1F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502920" cy="137160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5120640"/>
            <a:ext cx="502920" cy="822960"/>
          </a:xfrm>
          <a:prstGeom prst="roundRect">
            <a:avLst>
              <a:gd name="adj" fmla="val 10909"/>
            </a:avLst>
          </a:prstGeom>
          <a:solidFill>
            <a:srgbClr val="17294A"/>
          </a:solidFill>
          <a:ln w="12700">
            <a:solidFill>
              <a:srgbClr val="2237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09960" y="3840480"/>
            <a:ext cx="502920" cy="2103120"/>
          </a:xfrm>
          <a:prstGeom prst="roundRect">
            <a:avLst>
              <a:gd name="adj" fmla="val 1090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34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PROPTECH · INTELLIGENZA ARTIFICIALE · ITALIA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L'infrastruttura AI della compravendita immobiliare italiana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7947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 altro portale di annunci. </a:t>
            </a:r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Digitalizziamo la parte che fa saltare le compravendite: la conformità.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per investitore  ·  Luca Martino · Skylabs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L'annuncio è risolto. La transazione è rotta.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e Idealista dominano la vetrina. Ma dietro l'annuncio, la compravendita in Italia è ancora lenta, opaca e analogica, e il collo di bottiglia è sempre lo stesso.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69748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53512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53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8437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conformità blocca tutto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52160" y="28437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difformità catastale/urbanistica è la prima causa di rogiti che saltano o si allungano dal notaio.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4050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dati vivono in silos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4050792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Catasto, archivi edilizi del Comune, visure ipotecarie, APE, vincoli: nessuno di questi sistemi si parla.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5111496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67528"/>
            <a:ext cx="548640" cy="54864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367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257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Settimane di lavoro manuale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525780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immobile servono geometra, notaio e avvocato per ricostruire un dossier che oggi è tutto a mano.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il layer di conformità e titolo possiede una cosa che in Italia non è mai esistita.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~720.000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all'anno in Italia (OMI 2024)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Milioni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immobili con difformità catastali o urbanistiche da regolarizzare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2440" y="2331720"/>
            <a:ext cx="3611880" cy="2423160"/>
          </a:xfrm>
          <a:prstGeom prst="roundRect">
            <a:avLst>
              <a:gd name="adj" fmla="val 3774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69748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21040" y="365760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transato residenziale all'anno (ordine di grandezza)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50749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L'equivalente di un MLS / registro dei titoli, che il mercato immobiliare italiano, a differenza di quello USA, non ha mai avuto.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compravendite: OMI, Agenzia delle Entrate, Rapporto Immobiliare 2025. Transato: stima / ordine di grandezza.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· IL PUNTO D'INGRESSO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 AI che costruisce e verifica la due diligence in ore, non settimane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 o un dato catastale. Nient'altro.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72968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Shape 8"/>
          <p:cNvSpPr/>
          <p:nvPr/>
        </p:nvSpPr>
        <p:spPr>
          <a:xfrm>
            <a:off x="3410712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3666744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66744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Raccolta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66744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L'agente recupera visure, planimetrie, atti, archivi edilizi e vincoli.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0760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18504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4536" y="2560320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574536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74536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AI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74536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automatico catastale ↔ urbanistico ↔ stato di fatto; stima difformità e sanabilità.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88552" y="3547872"/>
            <a:ext cx="21945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2" name="Shape 20"/>
          <p:cNvSpPr/>
          <p:nvPr/>
        </p:nvSpPr>
        <p:spPr>
          <a:xfrm>
            <a:off x="9226296" y="2286000"/>
            <a:ext cx="2651760" cy="2743200"/>
          </a:xfrm>
          <a:prstGeom prst="roundRect">
            <a:avLst>
              <a:gd name="adj" fmla="val 3103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82328" y="25603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/>
          <p:nvPr/>
        </p:nvSpPr>
        <p:spPr>
          <a:xfrm>
            <a:off x="9482328" y="2560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82328" y="3246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Certificato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82328" y="3703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di due diligence pronto per agenzia, notaio, banca o fondo.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iniziale = B2B. </a:t>
            </a:r>
            <a:pPr indent="0" marL="0">
              <a:buNone/>
            </a:pPr>
            <a:r>
              <a:rPr lang="en-US" sz="14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Agenzie di rete, notai, banche (perizie mutui), fondi e SGR, aste. Pagano già oggi per questo lavoro, fatto male e lento. Vendiamo tempo e riduzione del rischio, non “AI”.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VANTAGGIO DIFENDIBILE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pratica alimenta un dataset che nessuno può copiare dalla vetrina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276088" y="2971800"/>
            <a:ext cx="1645920" cy="1645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276088" y="297180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33172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23317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pratiche di due diligence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233172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23317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dati verificati di conformità e valore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86600" y="448056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4480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e valutazioni più accurate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331720" y="4480560"/>
            <a:ext cx="2743200" cy="960120"/>
          </a:xfrm>
          <a:prstGeom prst="roundRect">
            <a:avLst>
              <a:gd name="adj" fmla="val 857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448056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clienti, più fiducia, più pratiche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97880" y="265176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5" name="Shape 13"/>
          <p:cNvSpPr/>
          <p:nvPr/>
        </p:nvSpPr>
        <p:spPr>
          <a:xfrm rot="5400000">
            <a:off x="8366760" y="361188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5897880" y="480060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7" name="Shape 15"/>
          <p:cNvSpPr/>
          <p:nvPr/>
        </p:nvSpPr>
        <p:spPr>
          <a:xfrm rot="16200000">
            <a:off x="3611880" y="3611880"/>
            <a:ext cx="310896" cy="219456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Effetto rete sui dati: costruiamo, pratica dopo pratica, l'MLS e il registro dei titoli che l'Italia non ha mai avuto.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VISIONE A 360°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certificato di conformità alla piattaforma dell'intera transazione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" y="1947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468880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952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Diligence AI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58952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d'ingresso: certificato di conformità automatizzato.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26864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36792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26864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dati-driven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26864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molto più accurato dei dati OMI, basato su transazioni reali.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38744" y="169164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4776" y="1947672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494776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204704" y="200253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94776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Rails della transazione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494776" y="28254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Notaio, banca, mutuo e rogito orchestrati in digitale.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468880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Sblocco immobili fermi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58952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Eredità e comproprietà frammentate: mappatura e accordo assistiti.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70832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26864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0" name="Text 28"/>
          <p:cNvSpPr/>
          <p:nvPr/>
        </p:nvSpPr>
        <p:spPr>
          <a:xfrm>
            <a:off x="4626864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36792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26864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Retrofit energetico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626864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di classe, costi e incentivi per la direttiva Case Green.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238744" y="3685032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94776" y="3941064"/>
            <a:ext cx="457200" cy="457200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36" name="Text 34"/>
          <p:cNvSpPr/>
          <p:nvPr/>
        </p:nvSpPr>
        <p:spPr>
          <a:xfrm>
            <a:off x="8494776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204704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5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ESPANSIONE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494776" y="4462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Marketplace finanziario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8494776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ristrutturazione agganciati al dossier.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mercato target supera di molto il miliardo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sola due diligence tecnico-legale vale ~€1 mld/anno. Con i servizi alla transazione e l'ondata Case Green, il target è multi-miliardo.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7863840" cy="1188720"/>
          </a:xfrm>
          <a:prstGeom prst="roundRect">
            <a:avLst>
              <a:gd name="adj" fmla="val 6923"/>
            </a:avLst>
          </a:prstGeom>
          <a:solidFill>
            <a:srgbClr val="0E1E3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031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057400" y="21671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~€120 mld transato residenziale/anno + €280 mld di giro d'affari Case Green potenziale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057400" y="2624328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 immobiliare &amp; riqualificazione in Italia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6035040" cy="1188720"/>
          </a:xfrm>
          <a:prstGeom prst="roundRect">
            <a:avLst>
              <a:gd name="adj" fmla="val 6923"/>
            </a:avLst>
          </a:prstGeom>
          <a:solidFill>
            <a:srgbClr val="C0563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4747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57400" y="35387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Multi-miliardo € / anno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057400" y="39959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6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tecnico-legali, valutazione e intelligence energetica digitalizzabili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4206240" cy="1188720"/>
          </a:xfrm>
          <a:prstGeom prst="roundRect">
            <a:avLst>
              <a:gd name="adj" fmla="val 6923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057400" y="49103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Centinaia di mln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057400" y="53675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4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 0-3 anni: DD B2B per reti, notai, banche, fondi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549640" y="1965960"/>
            <a:ext cx="3108960" cy="3931920"/>
          </a:xfrm>
          <a:prstGeom prst="roundRect">
            <a:avLst>
              <a:gd name="adj" fmla="val 2647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0" y="21488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numeri che reggono la tesi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78240" y="2880360"/>
            <a:ext cx="2697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719.578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compravendite residenziali (2024)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€2,8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intermediazione; €36 mld servizi immobiliari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 mld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Case Green entro il 2030
</a:t>
            </a:r>
            <a:endParaRPr lang="en-US" sz="12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~500.000 </a:t>
            </a:r>
            <a:pPr indent="0" marL="0">
              <a:spcAft>
                <a:spcPts val="1100"/>
              </a:spcAft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abitazioni/anno da riqualificare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60533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OMI–Agenzia delle Entrate (2024); Il Sole 24 Ore; ACCA/BibLus, rinnovabili.it (EPBD). SAM/SOM: stime, da validare in diligence.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RICAVI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flussi che si accendono in sequenza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8600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2128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Pay-per-dossier / SaaS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71600" y="25786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agenzie e notai: canone + pratica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273552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71600" y="3566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Banche, SGR e fondi: contratti a volume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426110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42611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187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AVM in licenza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716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Valutazioni e dataset di conformità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6577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5248656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5248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51755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Take-rate transazioni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371600" y="55412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Mutui e finanziamenti (fase 2)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2648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 ricavi nel tempo (illustrativo, % del fatturato)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6035040" y="22860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COMPETITIVA · PANORAMA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quadrante “conformità AI + dati Italia” è vuoto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layer della filiera ha un player forte. Nessuno presidia la conformità/titolo con AI e dati pubblici italiani.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 rot="16200000">
            <a:off x="-1417320" y="3520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AI-native · dati Italia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68880" y="58704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Copertura del layer:  vetrina → conformità → transazione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96596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70048" y="211226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 AI, solo il prezzo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670048" y="265176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Reopla / Sprengnetter · CRIF RES · Nomisma · PriceHubble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40880" y="196596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42048" y="211226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Conformità + transazione · AI-native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242048" y="267919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242048" y="322783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(UK) · non opera in Italia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68880" y="384048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0048" y="39867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Vetrina &amp; generazione lead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70048" y="452628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· Idealista · Casa.it · Wikicasa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40880" y="3840480"/>
            <a:ext cx="44348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39867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Transazione manuale o capital-heavy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242048" y="452628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iBuyer Casavo · studi di DD (geometri/architetti) · notai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COMPETITIVA · DETTAGLIO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fa cosa, e dove si ferma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0E1E38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99008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36008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di forza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70648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si ferma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16812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Minaccia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" y="210312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· Idealista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90088" y="210312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Portali annunci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36008" y="210312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Vetrina, lead e traffico dominante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70648" y="210312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toccano conformità né transazione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168128" y="210312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615184"/>
            <a:ext cx="11155680" cy="512064"/>
          </a:xfrm>
          <a:prstGeom prst="roundRect">
            <a:avLst>
              <a:gd name="adj" fmla="val 3571"/>
            </a:avLst>
          </a:prstGeom>
          <a:solidFill>
            <a:srgbClr val="EEF3FA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" y="261518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Casavo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90088" y="261518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iBuyer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36008" y="2615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Liquidità in ~30 gg; €385M raccolti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70648" y="2615184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 interna, non è un prodotto; capital-heavy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68128" y="261518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2648" y="312724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Reopla · CRIF RES · Nomisma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90088" y="312724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/ valutazione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36008" y="312724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Stime automatiche accurate, a scala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70648" y="312724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il prezzo, non conformità/titolo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168128" y="312724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639312"/>
            <a:ext cx="11155680" cy="512064"/>
          </a:xfrm>
          <a:prstGeom prst="roundRect">
            <a:avLst>
              <a:gd name="adj" fmla="val 3571"/>
            </a:avLst>
          </a:prstGeom>
          <a:solidFill>
            <a:srgbClr val="EEF3FA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" y="363931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geometri/architetti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0088" y="363931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 tradizionale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36008" y="363931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normativa profonda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470648" y="3639312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Manuale, frammentata, non AI-native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168128" y="363931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2648" y="415137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Deepki · piattaforme retrofit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990088" y="415137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/ Case Green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636008" y="415137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energetici e ristrutturazione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70648" y="415137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toccano titolo né transazione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0168128" y="415137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4663440"/>
            <a:ext cx="11155680" cy="512064"/>
          </a:xfrm>
          <a:prstGeom prst="roundRect">
            <a:avLst>
              <a:gd name="adj" fmla="val 3571"/>
            </a:avLst>
          </a:prstGeom>
          <a:solidFill>
            <a:srgbClr val="EEF3FA"/>
          </a:solidFill>
          <a:ln/>
        </p:spPr>
      </p:sp>
      <p:sp>
        <p:nvSpPr>
          <p:cNvPr id="38" name="Text 36"/>
          <p:cNvSpPr/>
          <p:nvPr/>
        </p:nvSpPr>
        <p:spPr>
          <a:xfrm>
            <a:off x="612648" y="466344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(UK)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90088" y="46634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DD legale 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636008" y="466344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 Series B; 200k transazioni/anno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470648" y="466344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UK/US; catasto e conformità IT non replicabili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0168128" y="46634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02920" y="5285232"/>
            <a:ext cx="11155680" cy="566928"/>
          </a:xfrm>
          <a:prstGeom prst="roundRect">
            <a:avLst>
              <a:gd name="adj" fmla="val 9677"/>
            </a:avLst>
          </a:prstGeom>
          <a:solidFill>
            <a:srgbClr val="0E1E38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285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quadrante conformità-AI su dati italiani è vuoto: </a:t>
            </a:r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lo occupa per primo costruisce il data-moat che lo blinda, e diventa il layer su cui poggiano tutti gli altri.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02920" y="59984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EU-Startups / Brighton Park (Orbital, Series B 2026); Economyup / Silicon Canals (Casavo, Reopla); CRIF RES. Dati a inizio 2026.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 INTERNAZIONALE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modello funziona già all'estero. In Italia il campo è aperto.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7556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digitalizza conformità e transazione immobiliare, fuori dall'Italia, diventa unicorno o monopolio quotato.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96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REGNO UNITO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B (2026) per l'AI di due diligence legale immobiliare. ~200k transazioni/anno.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228600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496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2628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 mld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26280" y="4114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Valutazione da unicorno; infrastruttura di title &amp; closing. ~$207M raccolti.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2440" y="228600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496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PEXA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21040" y="33558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~AU$2 mld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Capitalizzazione in borsa (ASX); ~90% delle transazioni immobiliari nazionali sul suo exchange.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49808"/>
          </a:xfrm>
          <a:prstGeom prst="roundRect">
            <a:avLst>
              <a:gd name="adj" fmla="val 9756"/>
            </a:avLst>
          </a:prstGeom>
          <a:solidFill>
            <a:srgbClr val="0A173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02920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Italia non esiste nessuno di questi. </a:t>
            </a:r>
            <a:pPr indent="0" marL="0">
              <a:buNone/>
            </a:pPr>
            <a:r>
              <a:rPr lang="en-US" sz="14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il problema, conformità e catasto, è più grande: noi replichiamo il modello e lo adattiamo, per essere il primo player italiano.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59436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Orbital / Brighton Park (Series B 2026); Qualia (Series D, unicorno ~$1 mld); PEXA Group (ASX: PXA). Cifre indicative.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ADESSO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venti a favore convergono nel 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87168"/>
            <a:ext cx="566928" cy="566928"/>
          </a:xfrm>
          <a:prstGeom prst="ellipse">
            <a:avLst/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3317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Direttiva UE “Case Green”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806440" y="23134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EPBD (recepimento entro maggio 2026) impone l'adeguamento di ~500.000 abitazioni/anno: ~€85 mld di investimenti entro il 2030. Domanda forzata e finanziabile.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858768"/>
            <a:ext cx="566928" cy="566928"/>
          </a:xfrm>
          <a:prstGeom prst="ellipse">
            <a:avLst/>
          </a:prstGeom>
          <a:solidFill>
            <a:srgbClr val="0E1E3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7033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 AI finalmente maturi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06440" y="36850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compiti document-heavy e rule-heavy, come leggere visure, incrociare planimetrie e verificare regole, sono ora automatizzabili con affidabilità.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89204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23036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5074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Eredità del Superbonus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806440" y="505663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ecosistema di dati, cantieri e pratiche edilizie mai visto prima, oggi disponibile per essere strutturato.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scommettiamo sull'AI da costruire. Verticalizziamo una piattaforma che già esiste.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615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01752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agentica di Skylabs: l'infrastruttura AI è già in produzione, non da inventare.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4962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Skylabs / SAE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251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Competenza consolidata di AI enterprise e integrazione su processi complessi.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937760"/>
            <a:ext cx="5852160" cy="1097280"/>
          </a:xfrm>
          <a:prstGeom prst="roundRect">
            <a:avLst>
              <a:gd name="adj" fmla="val 7500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08406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Time-to-market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54864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Partiamo da una vertical application su un mercato rotto, non da un foglio bianco.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0" y="2468880"/>
            <a:ext cx="4800600" cy="3566160"/>
          </a:xfrm>
          <a:prstGeom prst="roundRect">
            <a:avLst>
              <a:gd name="adj" fmla="val 2564"/>
            </a:avLst>
          </a:prstGeom>
          <a:solidFill>
            <a:srgbClr val="0A173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B0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78040" y="3108960"/>
            <a:ext cx="4160520" cy="868680"/>
          </a:xfrm>
          <a:prstGeom prst="roundRect">
            <a:avLst>
              <a:gd name="adj" fmla="val 8421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32004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Conforme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78040" y="35844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1E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app · real estate Italia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41605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17294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78040" y="416052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Universe · piattaforma agentica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50749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0E2140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8040" y="50749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Skylabs / SAE · AI enterprise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wedge alla piattaforma, in tre fasi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0E1E38"/>
          </a:solidFill>
          <a:ln w="12700">
            <a:solidFill>
              <a:srgbClr val="0E1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C056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0-18 mesi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wedge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di due diligence in produzione. Primi clienti B2B: reti, notai, banche. Costruzione del dataset proprietario.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0832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5152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E1E38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18-36 mesi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45152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 &amp; transazione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45152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AVM proprietario, rails della transazione digitale, sblocco degli immobili fermi. Il data-moat diventa prodotto.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38744" y="214884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D9E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13064" y="2468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E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13064" y="3063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mesi 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13064" y="34290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Piattaforma 360°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513064" y="40233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energetica Case Green e marketplace finanziario. Scala nazionale, poi replicabilità europea.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3856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C6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E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640080"/>
            <a:ext cx="457200" cy="1188720"/>
          </a:xfrm>
          <a:prstGeom prst="roundRect">
            <a:avLst>
              <a:gd name="adj" fmla="val 12000"/>
            </a:avLst>
          </a:prstGeom>
          <a:solidFill>
            <a:srgbClr val="17294A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1097280"/>
            <a:ext cx="457200" cy="731520"/>
          </a:xfrm>
          <a:prstGeom prst="roundRect">
            <a:avLst>
              <a:gd name="adj" fmla="val 12000"/>
            </a:avLst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Costruiamo il layer di fiducia della compravendita immobiliare italiana.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Immobiliare.it ha digitalizzato l'annuncio. </a:t>
            </a:r>
            <a:pPr indent="0" marL="0">
              <a:buNone/>
            </a:pPr>
            <a:r>
              <a:rPr lang="en-US" sz="18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 digitalizziamo la parte che fa saltare le compravendite, la conformità, e da lì diventiamo il layer di dati e transazione che il mercato immobiliare italiano non ha mai avuto.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 tecnico + verticale legale e go-to-market B2B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mesi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portare il wedge in produzione e costruire il data-moat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457200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7294A"/>
          </a:solidFill>
          <a:ln w="12700">
            <a:solidFill>
              <a:srgbClr val="27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4709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75320" y="5166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essere il primo player del layer di conformità in Italia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Martino  ·  Skylabs  ·  luca.martino@skylabs.it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2026-07-29T16:28:56Z</dcterms:created>
  <dcterms:modified xsi:type="dcterms:W3CDTF">2026-07-29T16:28:56Z</dcterms:modified>
</cp:coreProperties>
</file>